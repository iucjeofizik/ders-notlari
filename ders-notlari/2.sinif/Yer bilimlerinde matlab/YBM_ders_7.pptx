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88" r:id="rId8"/>
    <p:sldId id="281" r:id="rId9"/>
    <p:sldId id="279" r:id="rId10"/>
    <p:sldId id="280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396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483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498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20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436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673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158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638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523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140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873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694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F02F0-2661-4BCD-A10D-AA559D6EE744}" type="datetimeFigureOut">
              <a:rPr lang="tr-TR" smtClean="0"/>
              <a:t>01.11.2018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2D5B1-5FF1-47A6-9B1C-AE6B540C381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404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591684"/>
            <a:ext cx="9144000" cy="2387600"/>
          </a:xfrm>
        </p:spPr>
        <p:txBody>
          <a:bodyPr>
            <a:normAutofit/>
          </a:bodyPr>
          <a:lstStyle/>
          <a:p>
            <a:r>
              <a:rPr lang="tr-TR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Yerbilimlerinde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Matlab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 Modelleme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93965" y="2916238"/>
            <a:ext cx="11299371" cy="1655762"/>
          </a:xfrm>
        </p:spPr>
        <p:txBody>
          <a:bodyPr>
            <a:noAutofit/>
          </a:bodyPr>
          <a:lstStyle/>
          <a:p>
            <a:r>
              <a:rPr lang="tr-TR" sz="1600" b="1" smtClean="0"/>
              <a:t>DERS </a:t>
            </a:r>
            <a:r>
              <a:rPr lang="tr-TR" sz="1600" b="1" smtClean="0"/>
              <a:t>7</a:t>
            </a:r>
            <a:endParaRPr lang="tr-TR" sz="1600" b="1" dirty="0" smtClean="0"/>
          </a:p>
          <a:p>
            <a:r>
              <a:rPr lang="tr-TR" sz="1600" b="1" dirty="0" err="1" smtClean="0"/>
              <a:t>Doç.Dr</a:t>
            </a:r>
            <a:r>
              <a:rPr lang="tr-TR" sz="1600" b="1" dirty="0" smtClean="0"/>
              <a:t>. HAKAN ALP</a:t>
            </a:r>
          </a:p>
          <a:p>
            <a:endParaRPr lang="tr-TR" sz="1600" b="1" dirty="0"/>
          </a:p>
          <a:p>
            <a:endParaRPr lang="tr-TR" sz="1600" b="1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 sz="1600" b="1" dirty="0" smtClean="0"/>
              <a:t>Kaynaklar:  </a:t>
            </a:r>
            <a:r>
              <a:rPr lang="tr-TR" sz="1600" b="1" dirty="0" err="1" smtClean="0"/>
              <a:t>Prof.Dr</a:t>
            </a:r>
            <a:r>
              <a:rPr lang="tr-TR" sz="1600" b="1" dirty="0" smtClean="0"/>
              <a:t>. Davut  AYDOĞAN, «Bilgisayar Temelleri ve Programlamaya Giriş Ders Notları»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 sz="1600" b="1" dirty="0" err="1" smtClean="0"/>
              <a:t>Yard</a:t>
            </a:r>
            <a:r>
              <a:rPr lang="tr-TR" sz="1600" b="1" dirty="0" smtClean="0"/>
              <a:t>. </a:t>
            </a:r>
            <a:r>
              <a:rPr lang="tr-TR" sz="1600" b="1" dirty="0" err="1" smtClean="0"/>
              <a:t>Doç.Dr</a:t>
            </a:r>
            <a:r>
              <a:rPr lang="tr-TR" sz="1600" b="1" dirty="0" smtClean="0"/>
              <a:t>. Ertan PEKŞAN  «Programlama </a:t>
            </a:r>
            <a:r>
              <a:rPr lang="tr-TR" sz="1600" b="1" dirty="0"/>
              <a:t>Ders </a:t>
            </a:r>
            <a:r>
              <a:rPr lang="tr-TR" sz="1600" b="1" dirty="0" smtClean="0"/>
              <a:t>Notları» Kocaeli Üniversitesi Jeofizik Müh. Bölümü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 sz="1600" b="1" dirty="0"/>
              <a:t>Dr. İrfan AKÇA Jeofizikte Bilgisayar Uygulamaları Ders Notları </a:t>
            </a:r>
            <a:r>
              <a:rPr lang="tr-TR" sz="1600" b="1" dirty="0" smtClean="0"/>
              <a:t>Ankara </a:t>
            </a:r>
            <a:r>
              <a:rPr lang="tr-TR" sz="1600" b="1" dirty="0"/>
              <a:t>Üniversitesi Jeofizik Müh. Bölümü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 sz="1600" b="1" dirty="0" smtClean="0"/>
              <a:t>Brain R. </a:t>
            </a:r>
            <a:r>
              <a:rPr lang="tr-TR" sz="1600" b="1" dirty="0" err="1" smtClean="0"/>
              <a:t>Hunt</a:t>
            </a:r>
            <a:r>
              <a:rPr lang="tr-TR" sz="1600" b="1" dirty="0" smtClean="0"/>
              <a:t>, </a:t>
            </a:r>
            <a:r>
              <a:rPr lang="tr-TR" sz="1600" b="1" dirty="0" err="1" smtClean="0"/>
              <a:t>Ronal</a:t>
            </a:r>
            <a:r>
              <a:rPr lang="tr-TR" sz="1600" b="1" dirty="0" smtClean="0"/>
              <a:t> L. </a:t>
            </a:r>
            <a:r>
              <a:rPr lang="tr-TR" sz="1600" b="1" dirty="0" err="1" smtClean="0"/>
              <a:t>Lipsman</a:t>
            </a:r>
            <a:r>
              <a:rPr lang="tr-TR" sz="1600" b="1" dirty="0" smtClean="0"/>
              <a:t>  ve </a:t>
            </a:r>
            <a:r>
              <a:rPr lang="tr-TR" sz="1600" b="1" dirty="0" err="1" smtClean="0"/>
              <a:t>Jonathan</a:t>
            </a:r>
            <a:r>
              <a:rPr lang="tr-TR" sz="1600" b="1" dirty="0" smtClean="0"/>
              <a:t> M. </a:t>
            </a:r>
            <a:r>
              <a:rPr lang="tr-TR" sz="1600" b="1" dirty="0" err="1" smtClean="0"/>
              <a:t>Rosenberg</a:t>
            </a:r>
            <a:r>
              <a:rPr lang="tr-TR" sz="1600" b="1" dirty="0"/>
              <a:t> </a:t>
            </a:r>
            <a:r>
              <a:rPr lang="tr-TR" sz="1600" b="1" dirty="0" smtClean="0"/>
              <a:t> «A </a:t>
            </a:r>
            <a:r>
              <a:rPr lang="tr-TR" sz="1600" b="1" dirty="0"/>
              <a:t>Guide </a:t>
            </a:r>
            <a:r>
              <a:rPr lang="tr-TR" sz="1600" b="1" dirty="0" err="1"/>
              <a:t>to</a:t>
            </a:r>
            <a:r>
              <a:rPr lang="tr-TR" sz="1600" b="1" dirty="0"/>
              <a:t> </a:t>
            </a:r>
            <a:r>
              <a:rPr lang="tr-TR" sz="1600" b="1" dirty="0" smtClean="0"/>
              <a:t>MATLAB» </a:t>
            </a:r>
            <a:r>
              <a:rPr lang="tr-TR" sz="1600" b="1" dirty="0"/>
              <a:t>Cambridge </a:t>
            </a:r>
            <a:r>
              <a:rPr lang="tr-TR" sz="1600" b="1" dirty="0" err="1"/>
              <a:t>University</a:t>
            </a:r>
            <a:r>
              <a:rPr lang="tr-TR" sz="1600" b="1" dirty="0"/>
              <a:t> </a:t>
            </a:r>
            <a:r>
              <a:rPr lang="tr-TR" sz="1600" b="1" dirty="0" err="1"/>
              <a:t>Press</a:t>
            </a:r>
            <a:r>
              <a:rPr lang="tr-TR" sz="1600" b="1" dirty="0"/>
              <a:t>, </a:t>
            </a:r>
            <a:r>
              <a:rPr lang="tr-TR" sz="1600" b="1" dirty="0" smtClean="0"/>
              <a:t>1995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r-TR" sz="1600" b="1" dirty="0" smtClean="0"/>
              <a:t>Martin H. </a:t>
            </a:r>
            <a:r>
              <a:rPr lang="tr-TR" sz="1600" b="1" dirty="0" err="1" smtClean="0"/>
              <a:t>Trauth</a:t>
            </a:r>
            <a:r>
              <a:rPr lang="tr-TR" sz="1600" b="1" dirty="0" smtClean="0"/>
              <a:t> «MATLAB</a:t>
            </a:r>
            <a:r>
              <a:rPr lang="tr-TR" dirty="0"/>
              <a:t> </a:t>
            </a:r>
            <a:r>
              <a:rPr lang="tr-TR" dirty="0" smtClean="0"/>
              <a:t>® </a:t>
            </a:r>
            <a:r>
              <a:rPr lang="tr-TR" sz="1600" b="1" dirty="0" smtClean="0"/>
              <a:t> </a:t>
            </a:r>
            <a:r>
              <a:rPr lang="tr-TR" sz="1600" b="1" dirty="0" err="1" smtClean="0"/>
              <a:t>Recipes</a:t>
            </a:r>
            <a:r>
              <a:rPr lang="tr-TR" sz="1600" b="1" dirty="0" smtClean="0"/>
              <a:t> </a:t>
            </a:r>
            <a:r>
              <a:rPr lang="tr-TR" sz="1600" b="1" dirty="0" err="1" smtClean="0"/>
              <a:t>for</a:t>
            </a:r>
            <a:r>
              <a:rPr lang="tr-TR" sz="1600" b="1" dirty="0" smtClean="0"/>
              <a:t> Earth </a:t>
            </a:r>
            <a:r>
              <a:rPr lang="tr-TR" sz="1600" b="1" dirty="0" err="1" smtClean="0"/>
              <a:t>Sciences</a:t>
            </a:r>
            <a:r>
              <a:rPr lang="tr-TR" sz="1600" b="1" dirty="0" smtClean="0"/>
              <a:t>» </a:t>
            </a:r>
            <a:r>
              <a:rPr lang="de-DE" sz="1600" b="1" dirty="0"/>
              <a:t>Springer-Verlag Berlin Heidelberg 2006, </a:t>
            </a:r>
            <a:endParaRPr lang="tr-TR" sz="1600" b="1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1600" b="1" dirty="0" smtClean="0"/>
              <a:t>2007</a:t>
            </a:r>
            <a:r>
              <a:rPr lang="tr-TR" sz="1600" b="1" dirty="0" smtClean="0"/>
              <a:t>Doğan, U., (2009), Temel Bilgisayar Bilimleri Ders Notları, YTÜ, Lisans  Ders Notları, İstanbul</a:t>
            </a:r>
            <a:endParaRPr lang="tr-TR" sz="1600" b="1" dirty="0"/>
          </a:p>
        </p:txBody>
      </p:sp>
    </p:spTree>
    <p:extLst>
      <p:ext uri="{BB962C8B-B14F-4D97-AF65-F5344CB8AC3E}">
        <p14:creationId xmlns:p14="http://schemas.microsoft.com/office/powerpoint/2010/main" val="19195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2" y="0"/>
            <a:ext cx="6956176" cy="8128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94" y="812800"/>
            <a:ext cx="9124495" cy="2539314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229187" y="6488668"/>
            <a:ext cx="1203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b="1" dirty="0"/>
              <a:t>Dr. İrfan AKÇA Jeofizikte Bilgisayar Uygulamaları Ders Notları Ankara Üniversitesi Jeofizik Müh. Bölümü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40" y="3428999"/>
            <a:ext cx="11013865" cy="2947737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6096000" y="6003758"/>
            <a:ext cx="5848305" cy="372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237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/>
        </p:nvSpPr>
        <p:spPr>
          <a:xfrm>
            <a:off x="184483" y="0"/>
            <a:ext cx="88151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x=0:.125:1;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y=2*x.^2-0.5*x+1;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y1=y+0.25*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(size(y));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f=fit(x',y1',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'poly2'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%'poly1':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doğru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'poly2': ikinci derece ...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(f,x,y1)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764" y="-271426"/>
            <a:ext cx="7019615" cy="5493132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184483" y="399567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/>
              <a:t>f =</a:t>
            </a:r>
          </a:p>
          <a:p>
            <a:endParaRPr lang="tr-TR" dirty="0"/>
          </a:p>
          <a:p>
            <a:r>
              <a:rPr lang="tr-TR" dirty="0"/>
              <a:t>     </a:t>
            </a:r>
            <a:r>
              <a:rPr lang="tr-TR" dirty="0" err="1"/>
              <a:t>Linear</a:t>
            </a:r>
            <a:r>
              <a:rPr lang="tr-TR" dirty="0"/>
              <a:t> model Poly2:</a:t>
            </a:r>
          </a:p>
          <a:p>
            <a:r>
              <a:rPr lang="tr-TR" dirty="0"/>
              <a:t>       f(x) = p1*x^2 + p2*x + p3</a:t>
            </a:r>
          </a:p>
          <a:p>
            <a:r>
              <a:rPr lang="tr-TR" dirty="0"/>
              <a:t>     </a:t>
            </a:r>
            <a:r>
              <a:rPr lang="tr-TR" dirty="0" err="1"/>
              <a:t>Coefficients</a:t>
            </a:r>
            <a:r>
              <a:rPr lang="tr-TR" dirty="0"/>
              <a:t> (</a:t>
            </a:r>
            <a:r>
              <a:rPr lang="tr-TR" dirty="0" err="1"/>
              <a:t>with</a:t>
            </a:r>
            <a:r>
              <a:rPr lang="tr-TR" dirty="0"/>
              <a:t> 95%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bounds</a:t>
            </a:r>
            <a:r>
              <a:rPr lang="tr-TR" dirty="0"/>
              <a:t>):</a:t>
            </a:r>
          </a:p>
          <a:p>
            <a:r>
              <a:rPr lang="tr-TR" dirty="0"/>
              <a:t>       p1 =       1.786  (-1.563, 5.135)</a:t>
            </a:r>
          </a:p>
          <a:p>
            <a:r>
              <a:rPr lang="tr-TR" dirty="0"/>
              <a:t>       p2 =     -0.7994  (-4.28, 2.681)</a:t>
            </a:r>
          </a:p>
          <a:p>
            <a:r>
              <a:rPr lang="tr-TR" dirty="0"/>
              <a:t>       p3 =       1.254  (0.5074, 2)</a:t>
            </a:r>
          </a:p>
          <a:p>
            <a:endParaRPr lang="tr-TR" dirty="0"/>
          </a:p>
          <a:p>
            <a:r>
              <a:rPr lang="tr-TR" dirty="0"/>
              <a:t>&gt;&gt; </a:t>
            </a:r>
          </a:p>
        </p:txBody>
      </p:sp>
      <p:sp>
        <p:nvSpPr>
          <p:cNvPr id="10" name="Metin kutusu 9"/>
          <p:cNvSpPr txBox="1"/>
          <p:nvPr/>
        </p:nvSpPr>
        <p:spPr>
          <a:xfrm>
            <a:off x="3645568" y="0"/>
            <a:ext cx="12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Veri sayısı 9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679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34" y="-230940"/>
            <a:ext cx="7121195" cy="5346701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60421" y="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x=0:.125:4;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y=2*x.^2-0.5*x+1;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y1=y+0.25*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(size(y));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f=fit(x',y1',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'poly2'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%'poly1':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doğru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'poly2': ikinci derece ...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(f,x,y1)</a:t>
            </a:r>
          </a:p>
        </p:txBody>
      </p:sp>
      <p:sp>
        <p:nvSpPr>
          <p:cNvPr id="6" name="Dikdörtgen 5"/>
          <p:cNvSpPr/>
          <p:nvPr/>
        </p:nvSpPr>
        <p:spPr>
          <a:xfrm>
            <a:off x="160421" y="3995678"/>
            <a:ext cx="67617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f =</a:t>
            </a:r>
          </a:p>
          <a:p>
            <a:endParaRPr lang="tr-TR" dirty="0"/>
          </a:p>
          <a:p>
            <a:r>
              <a:rPr lang="tr-TR" dirty="0"/>
              <a:t>     </a:t>
            </a:r>
            <a:r>
              <a:rPr lang="tr-TR" dirty="0" err="1"/>
              <a:t>Linear</a:t>
            </a:r>
            <a:r>
              <a:rPr lang="tr-TR" dirty="0"/>
              <a:t> model Poly2:</a:t>
            </a:r>
          </a:p>
          <a:p>
            <a:r>
              <a:rPr lang="tr-TR" dirty="0"/>
              <a:t>       f(x) = p1*x^2 + p2*x + p3</a:t>
            </a:r>
          </a:p>
          <a:p>
            <a:r>
              <a:rPr lang="tr-TR" dirty="0"/>
              <a:t>     </a:t>
            </a:r>
            <a:r>
              <a:rPr lang="tr-TR" dirty="0" err="1"/>
              <a:t>Coefficients</a:t>
            </a:r>
            <a:r>
              <a:rPr lang="tr-TR" dirty="0"/>
              <a:t> (</a:t>
            </a:r>
            <a:r>
              <a:rPr lang="tr-TR" dirty="0" err="1"/>
              <a:t>with</a:t>
            </a:r>
            <a:r>
              <a:rPr lang="tr-TR" dirty="0"/>
              <a:t> 95%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bounds</a:t>
            </a:r>
            <a:r>
              <a:rPr lang="tr-TR" dirty="0"/>
              <a:t>):</a:t>
            </a:r>
          </a:p>
          <a:p>
            <a:r>
              <a:rPr lang="tr-TR" dirty="0"/>
              <a:t>       p1 =       2.033  (1.972, 2.094)</a:t>
            </a:r>
          </a:p>
          <a:p>
            <a:r>
              <a:rPr lang="tr-TR" dirty="0"/>
              <a:t>       p2 =     -0.6309  (-0.8826, -0.3791)</a:t>
            </a:r>
          </a:p>
          <a:p>
            <a:r>
              <a:rPr lang="tr-TR" dirty="0"/>
              <a:t>       p3 =        1.08  (0.8619, 1.297)</a:t>
            </a:r>
          </a:p>
          <a:p>
            <a:endParaRPr lang="tr-TR" dirty="0"/>
          </a:p>
          <a:p>
            <a:r>
              <a:rPr lang="tr-TR" dirty="0"/>
              <a:t>&gt;&gt; </a:t>
            </a:r>
          </a:p>
        </p:txBody>
      </p:sp>
      <p:sp>
        <p:nvSpPr>
          <p:cNvPr id="7" name="Metin kutusu 6"/>
          <p:cNvSpPr txBox="1"/>
          <p:nvPr/>
        </p:nvSpPr>
        <p:spPr>
          <a:xfrm>
            <a:off x="3645568" y="0"/>
            <a:ext cx="138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Veri sayısı 33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838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042" y="-288758"/>
            <a:ext cx="7476549" cy="5830637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84484" y="370044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tr-TR" dirty="0"/>
          </a:p>
          <a:p>
            <a:r>
              <a:rPr lang="tr-TR" dirty="0"/>
              <a:t>f =</a:t>
            </a:r>
          </a:p>
          <a:p>
            <a:endParaRPr lang="tr-TR" dirty="0"/>
          </a:p>
          <a:p>
            <a:r>
              <a:rPr lang="tr-TR" dirty="0"/>
              <a:t>     </a:t>
            </a:r>
            <a:r>
              <a:rPr lang="tr-TR" dirty="0" err="1"/>
              <a:t>Linear</a:t>
            </a:r>
            <a:r>
              <a:rPr lang="tr-TR" dirty="0"/>
              <a:t> model Poly2:</a:t>
            </a:r>
          </a:p>
          <a:p>
            <a:r>
              <a:rPr lang="tr-TR" dirty="0"/>
              <a:t>       f(x) = p1*x^2 + p2*x + p3</a:t>
            </a:r>
          </a:p>
          <a:p>
            <a:r>
              <a:rPr lang="tr-TR" dirty="0"/>
              <a:t>     </a:t>
            </a:r>
            <a:r>
              <a:rPr lang="tr-TR" dirty="0" err="1"/>
              <a:t>Coefficients</a:t>
            </a:r>
            <a:r>
              <a:rPr lang="tr-TR" dirty="0"/>
              <a:t> (</a:t>
            </a:r>
            <a:r>
              <a:rPr lang="tr-TR" dirty="0" err="1"/>
              <a:t>with</a:t>
            </a:r>
            <a:r>
              <a:rPr lang="tr-TR" dirty="0"/>
              <a:t> 95%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bounds</a:t>
            </a:r>
            <a:r>
              <a:rPr lang="tr-TR" dirty="0"/>
              <a:t>):</a:t>
            </a:r>
          </a:p>
          <a:p>
            <a:r>
              <a:rPr lang="tr-TR" dirty="0"/>
              <a:t>       p1 =       1.993  (1.98, 2.006)</a:t>
            </a:r>
          </a:p>
          <a:p>
            <a:r>
              <a:rPr lang="tr-TR" dirty="0"/>
              <a:t>       p2 =     -0.4335  (-0.5404, -0.3267)</a:t>
            </a:r>
          </a:p>
          <a:p>
            <a:r>
              <a:rPr lang="tr-TR" dirty="0"/>
              <a:t>       p3 =      0.8991  (0.7142, 1.084)</a:t>
            </a:r>
          </a:p>
        </p:txBody>
      </p:sp>
      <p:sp>
        <p:nvSpPr>
          <p:cNvPr id="6" name="Dikdörtgen 5"/>
          <p:cNvSpPr/>
          <p:nvPr/>
        </p:nvSpPr>
        <p:spPr>
          <a:xfrm>
            <a:off x="184484" y="9423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x=0:.125:8;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y=2*x.^2-0.5*x+1;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y1=y+0.25*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(size(y));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f=fit(x',y1',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'poly2'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%'poly1': 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doðru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'poly2': ikinci derece ...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f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(f,x,y1)</a:t>
            </a:r>
          </a:p>
        </p:txBody>
      </p:sp>
      <p:sp>
        <p:nvSpPr>
          <p:cNvPr id="7" name="Metin kutusu 6"/>
          <p:cNvSpPr txBox="1"/>
          <p:nvPr/>
        </p:nvSpPr>
        <p:spPr>
          <a:xfrm>
            <a:off x="3645568" y="0"/>
            <a:ext cx="138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Veri sayısı 65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550" y="5438274"/>
            <a:ext cx="7187830" cy="1278465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10904561" y="5709313"/>
            <a:ext cx="168323" cy="215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967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9" y="147093"/>
            <a:ext cx="1574025" cy="5588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59" y="829480"/>
            <a:ext cx="11881352" cy="5588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25" y="2219899"/>
            <a:ext cx="10945504" cy="2418201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7383439" y="3739487"/>
            <a:ext cx="3903260" cy="395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561833" y="4135272"/>
            <a:ext cx="3903260" cy="395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521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69756" y="1179828"/>
            <a:ext cx="46165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 = 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linspace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(0,10,50);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y = sin(x);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(x,y,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'-ro'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,10,</a:t>
            </a:r>
            <a:r>
              <a:rPr lang="tr-T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tr-TR" sz="1600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 smtClean="0">
                <a:solidFill>
                  <a:srgbClr val="A020F0"/>
                </a:solidFill>
                <a:latin typeface="Courier New" panose="02070309020205020404" pitchFamily="49" charset="0"/>
              </a:rPr>
              <a:t>MarkerEdgeColor</a:t>
            </a:r>
            <a:r>
              <a:rPr lang="tr-TR" sz="1600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,[1 .9 .9])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37" y="2942269"/>
            <a:ext cx="4796659" cy="360140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724149"/>
            <a:ext cx="5924395" cy="3819525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6029325" y="1179829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 = 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linspace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(0,10,50);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y = sin(x);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(x,y,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'-s'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'MarkerSize'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,5,</a:t>
            </a:r>
            <a:r>
              <a:rPr lang="tr-T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MarkerEdgeColor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,[1 .6 .6])</a:t>
            </a:r>
          </a:p>
        </p:txBody>
      </p:sp>
      <p:sp>
        <p:nvSpPr>
          <p:cNvPr id="9" name="Dikdörtgen 8"/>
          <p:cNvSpPr/>
          <p:nvPr/>
        </p:nvSpPr>
        <p:spPr>
          <a:xfrm>
            <a:off x="76200" y="94495"/>
            <a:ext cx="10858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b="1" dirty="0" err="1" smtClean="0">
                <a:latin typeface="Courier New" panose="02070309020205020404" pitchFamily="49" charset="0"/>
              </a:rPr>
              <a:t>MarkerEdgeColor</a:t>
            </a:r>
            <a:r>
              <a:rPr lang="tr-TR" sz="4000" b="1" dirty="0" smtClean="0">
                <a:latin typeface="Courier New" panose="02070309020205020404" pitchFamily="49" charset="0"/>
              </a:rPr>
              <a:t>, </a:t>
            </a:r>
            <a:r>
              <a:rPr lang="tr-TR" sz="4000" b="1" dirty="0" err="1" smtClean="0">
                <a:latin typeface="Courier New" panose="02070309020205020404" pitchFamily="49" charset="0"/>
              </a:rPr>
              <a:t>MarkerFaceColor</a:t>
            </a:r>
            <a:endParaRPr lang="tr-TR" sz="4000" b="1" dirty="0"/>
          </a:p>
        </p:txBody>
      </p:sp>
    </p:spTree>
    <p:extLst>
      <p:ext uri="{BB962C8B-B14F-4D97-AF65-F5344CB8AC3E}">
        <p14:creationId xmlns:p14="http://schemas.microsoft.com/office/powerpoint/2010/main" val="193993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250" y="32318"/>
            <a:ext cx="7121195" cy="5346701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0" y="166513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;close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;clc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 Bir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aracın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zamana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karşı ölçülmüş hız değerleri</a:t>
            </a:r>
            <a:endParaRPr lang="tr-TR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t=[0 1 3.7 6 8 9 12 15 20 22 27];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v=[0 14 52 67 79 100 114 120 123 135 150];</a:t>
            </a:r>
          </a:p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Aracın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t=14 saniyedeki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hızını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bulunuz.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ti=14; </a:t>
            </a: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vi=interp1(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t,v,ti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%t=14 deki 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aradeðerin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hesaplanması</a:t>
            </a:r>
            <a:endParaRPr lang="tr-TR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(t,v,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'b-o'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; 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linear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(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default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(14,vi,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'r 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'k'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grafiğin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düzenlenmesi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;box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'Zaman(s)'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(m/s)'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'Ölçülen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'ara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deger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cxnSp>
        <p:nvCxnSpPr>
          <p:cNvPr id="7" name="Düz Ok Bağlayıcısı 6"/>
          <p:cNvCxnSpPr/>
          <p:nvPr/>
        </p:nvCxnSpPr>
        <p:spPr>
          <a:xfrm flipV="1">
            <a:off x="8852847" y="1473958"/>
            <a:ext cx="0" cy="15012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47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784" y="578228"/>
            <a:ext cx="7121195" cy="5346701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0" y="57822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endParaRPr lang="tr-T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viii=interp1(t,v,ti,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nearest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%t=14 deki 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aradeðerin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hesaplanmasý</a:t>
            </a:r>
            <a:endParaRPr lang="tr-TR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(t,v,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'b-o'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'm'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plot(14,viii,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'r o'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 ; title([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'nearest'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grafiðin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düzenlenmesi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;box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'Zaman(s)'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(m/s)'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'Ölçülen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'ara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deger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cxnSp>
        <p:nvCxnSpPr>
          <p:cNvPr id="7" name="Düz Ok Bağlayıcısı 6"/>
          <p:cNvCxnSpPr/>
          <p:nvPr/>
        </p:nvCxnSpPr>
        <p:spPr>
          <a:xfrm flipV="1">
            <a:off x="8893791" y="1927745"/>
            <a:ext cx="0" cy="15012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2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080" y="509989"/>
            <a:ext cx="7121195" cy="5346701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27378" y="630873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endParaRPr lang="tr-T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tr-T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vii=interp1(t,v,ti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spline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%t=14 deki </a:t>
            </a:r>
            <a:r>
              <a:rPr lang="tr-TR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aradeğerin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hesaplanması</a:t>
            </a:r>
            <a:endParaRPr lang="tr-TR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(t,v,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'b-o'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'g'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(14,vii,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'r 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'y'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;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spline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grafiðin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düzenlenmesi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;box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'Zaman(s)'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(m/s)'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'Ölçülen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hiz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'ara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deger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tr-TR" dirty="0"/>
          </a:p>
        </p:txBody>
      </p:sp>
      <p:cxnSp>
        <p:nvCxnSpPr>
          <p:cNvPr id="6" name="Düz Ok Bağlayıcısı 5"/>
          <p:cNvCxnSpPr/>
          <p:nvPr/>
        </p:nvCxnSpPr>
        <p:spPr>
          <a:xfrm flipV="1">
            <a:off x="8907439" y="1927745"/>
            <a:ext cx="0" cy="15012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15" y="1553423"/>
            <a:ext cx="10388463" cy="34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0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74" y="1292951"/>
            <a:ext cx="10560851" cy="2961912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581527" y="416790"/>
            <a:ext cx="6096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tr-TR" sz="3600" b="1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griddata</a:t>
            </a:r>
            <a:r>
              <a:rPr lang="tr-TR" sz="36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fonksiyonu</a:t>
            </a:r>
            <a:endParaRPr lang="tr-TR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4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0" y="0"/>
            <a:ext cx="112821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Veri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Gridleme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ve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Konturlama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Uygulaması </a:t>
            </a:r>
            <a:endParaRPr lang="tr-TR" sz="1600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;close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;clc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Sınama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verisi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Rastgele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x,y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konumlarında ölçüldüğü varsayılan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z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deðerleri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üretiliyor 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(64,1);y=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(64,1);z=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(64,1); </a:t>
            </a:r>
          </a:p>
        </p:txBody>
      </p:sp>
      <p:sp>
        <p:nvSpPr>
          <p:cNvPr id="5" name="Dikdörtgen 4"/>
          <p:cNvSpPr/>
          <p:nvPr/>
        </p:nvSpPr>
        <p:spPr>
          <a:xfrm>
            <a:off x="0" y="1477328"/>
            <a:ext cx="116233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dx=.1; 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x yönünde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aralığı </a:t>
            </a:r>
            <a:endParaRPr lang="tr-TR" sz="1600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=.06;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y yönünde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aralığı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tr-TR" sz="1600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Izgaranýn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düðüm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noktaları oluşturuluyor</a:t>
            </a:r>
            <a:endParaRPr lang="tr-TR" sz="1600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xi=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(x):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dx:max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yi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(y):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dy:max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(y);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ızgarası oluşturuluyor </a:t>
            </a:r>
            <a:endParaRPr lang="tr-TR" sz="1600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[X,Y]=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meshgrid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xi,yi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</a:p>
        </p:txBody>
      </p:sp>
      <p:sp>
        <p:nvSpPr>
          <p:cNvPr id="6" name="Dikdörtgen 5"/>
          <p:cNvSpPr/>
          <p:nvPr/>
        </p:nvSpPr>
        <p:spPr>
          <a:xfrm>
            <a:off x="0" y="4062651"/>
            <a:ext cx="1181896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%Veri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griddata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fonksiyonu ile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gridleniyor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x ve y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sırası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ile verilerin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konumları,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z bu konularda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tanýmlý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veri, X ve Y ise verilerin yeniden </a:t>
            </a:r>
            <a:r>
              <a:rPr lang="tr-TR" sz="1600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gridleneceği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ızgara noktalarıdır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.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Z=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griddata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(x,y,z,X,Y,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cubic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Tırnak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içinde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gridleme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işlemi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ile ilgili bir seçenek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yazılmıştır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. 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Diðer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 seçenekler ‘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linear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’ ve ‘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nearest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’ </a:t>
            </a:r>
            <a:r>
              <a:rPr lang="tr-TR" sz="1600" dirty="0" err="1">
                <a:solidFill>
                  <a:srgbClr val="228B22"/>
                </a:solidFill>
                <a:latin typeface="Courier New" panose="02070309020205020404" pitchFamily="49" charset="0"/>
              </a:rPr>
              <a:t>þeklindedir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.</a:t>
            </a:r>
          </a:p>
          <a:p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%verilerin </a:t>
            </a:r>
            <a:r>
              <a:rPr lang="tr-TR" sz="16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konumları </a:t>
            </a:r>
            <a:r>
              <a:rPr lang="tr-TR" sz="1600" dirty="0">
                <a:solidFill>
                  <a:srgbClr val="228B22"/>
                </a:solidFill>
                <a:latin typeface="Courier New" panose="02070309020205020404" pitchFamily="49" charset="0"/>
              </a:rPr>
              <a:t>çizdiriliyor 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subplot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(1,2,1)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 o'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'k'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box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;axis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image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'X </a:t>
            </a:r>
            <a:r>
              <a:rPr lang="tr-TR" sz="1600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koordinatları'</a:t>
            </a:r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tr-T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tr-T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tr-T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'Y </a:t>
            </a:r>
            <a:r>
              <a:rPr lang="tr-TR" sz="1600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Koordinatları'</a:t>
            </a:r>
            <a:r>
              <a:rPr lang="tr-TR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endParaRPr lang="tr-TR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44752" cy="6714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Resim 10"/>
          <p:cNvPicPr>
            <a:picLocks noChangeAspect="1"/>
          </p:cNvPicPr>
          <p:nvPr/>
        </p:nvPicPr>
        <p:blipFill rotWithShape="1">
          <a:blip r:embed="rId3"/>
          <a:srcRect l="50833" t="5238" r="17917" b="36984"/>
          <a:stretch/>
        </p:blipFill>
        <p:spPr>
          <a:xfrm>
            <a:off x="96672" y="293010"/>
            <a:ext cx="11430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4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0" y="0"/>
            <a:ext cx="98400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ızgarası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çizdiriliyor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subplot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(1,2,2)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'k'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box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;axis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image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'k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+'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'k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.'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91" y="175544"/>
            <a:ext cx="9700631" cy="65799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9970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0" y="0"/>
            <a:ext cx="98400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err="1">
                <a:solidFill>
                  <a:srgbClr val="228B22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ızgarası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çizdiriliyor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subplot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(1,2,2)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o'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MarkerFaceColor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'k'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box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;axis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image</a:t>
            </a:r>
            <a:endParaRPr lang="tr-TR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'k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+'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'k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.'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5" name="Dikdörtgen 4"/>
          <p:cNvSpPr/>
          <p:nvPr/>
        </p:nvSpPr>
        <p:spPr>
          <a:xfrm>
            <a:off x="0" y="1859885"/>
            <a:ext cx="82777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tr-TR" dirty="0" err="1" smtClean="0">
                <a:solidFill>
                  <a:srgbClr val="228B22"/>
                </a:solidFill>
                <a:latin typeface="Courier New" panose="02070309020205020404" pitchFamily="49" charset="0"/>
              </a:rPr>
              <a:t>gridlenmiş</a:t>
            </a:r>
            <a:r>
              <a:rPr lang="tr-TR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değerler </a:t>
            </a:r>
            <a:r>
              <a:rPr lang="tr-TR" dirty="0">
                <a:solidFill>
                  <a:srgbClr val="228B22"/>
                </a:solidFill>
                <a:latin typeface="Courier New" panose="02070309020205020404" pitchFamily="49" charset="0"/>
              </a:rPr>
              <a:t>çizdiriliyor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contourf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xi,yi,Z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alpha</a:t>
            </a:r>
            <a:r>
              <a:rPr lang="tr-T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(.5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Orjinal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Veri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Konumlarý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Grid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tr-TR" dirty="0" err="1">
                <a:solidFill>
                  <a:srgbClr val="A020F0"/>
                </a:solidFill>
                <a:latin typeface="Courier New" panose="02070309020205020404" pitchFamily="49" charset="0"/>
              </a:rPr>
              <a:t>Noktalarý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'X </a:t>
            </a:r>
            <a:r>
              <a:rPr lang="tr-TR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koordinatları'</a:t>
            </a:r>
            <a:r>
              <a:rPr lang="tr-T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tr-T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A020F0"/>
                </a:solidFill>
                <a:latin typeface="Courier New" panose="02070309020205020404" pitchFamily="49" charset="0"/>
              </a:rPr>
              <a:t>'Y </a:t>
            </a:r>
            <a:r>
              <a:rPr lang="tr-TR" dirty="0" smtClean="0">
                <a:solidFill>
                  <a:srgbClr val="A020F0"/>
                </a:solidFill>
                <a:latin typeface="Courier New" panose="02070309020205020404" pitchFamily="49" charset="0"/>
              </a:rPr>
              <a:t>Koordinatları'</a:t>
            </a:r>
            <a:r>
              <a:rPr lang="tr-T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84" y="0"/>
            <a:ext cx="7916779" cy="6782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6301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4" y="1205344"/>
            <a:ext cx="11015471" cy="511232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2" y="340640"/>
            <a:ext cx="12149288" cy="86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6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924</Words>
  <Application>Microsoft Office PowerPoint</Application>
  <PresentationFormat>Geniş ekran</PresentationFormat>
  <Paragraphs>160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Office Teması</vt:lpstr>
      <vt:lpstr>Yerbilimlerinde Matlab ve Modelleme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BİLGİSAYAR TEMELLERİ  VE  PROGRAMLAMAYA GİRİŞ</dc:title>
  <dc:creator>Hakan Alp</dc:creator>
  <cp:lastModifiedBy>Hakan Alp</cp:lastModifiedBy>
  <cp:revision>112</cp:revision>
  <dcterms:created xsi:type="dcterms:W3CDTF">2018-01-24T08:33:02Z</dcterms:created>
  <dcterms:modified xsi:type="dcterms:W3CDTF">2018-11-01T07:36:50Z</dcterms:modified>
</cp:coreProperties>
</file>